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Roboto"/>
              </a:rPr>
              <a:t>Beeloy Fiscal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2DFDB"/>
                </a:solidFill>
                <a:latin typeface="Roboto"/>
              </a:rPr>
              <a:t>Единый API для фискализации в ЕС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1828800" cy="502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CAE9"/>
                </a:solidFill>
                <a:latin typeface="Roboto"/>
              </a:rPr>
              <a:t>«Stripe для фискальных операций» — облачная платформа,</a:t>
            </a:r>
          </a:p>
          <a:p>
            <a:pPr algn="l"/>
            <a:r>
              <a:rPr sz="1600" b="0">
                <a:solidFill>
                  <a:srgbClr val="C5CAE9"/>
                </a:solidFill>
                <a:latin typeface="Roboto"/>
              </a:rPr>
              <a:t>превращающая интеграцию с кассовыми аппаратами в простой REST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  <a:latin typeface="Roboto"/>
              </a:rPr>
              <a:t>SOFTWARE COMPLETE  ·  92 API OPERATIONS  ·  BG SUPTO-014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Проблема: фискальная интеграция стоит дорого и долго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3657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Roboto"/>
              </a:rPr>
              <a:t>€15K – €80K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стоимость интеграции</a:t>
            </a:r>
          </a:p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одного типа ФУ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15568"/>
            <a:ext cx="3657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2529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Roboto"/>
              </a:rPr>
              <a:t>3 – 9 мес.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013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срок подключения</a:t>
            </a:r>
          </a:p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нового устройства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19" y="1115568"/>
            <a:ext cx="36576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22529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Roboto"/>
              </a:rPr>
              <a:t>60+ вендоров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18013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несовместимых протоколов</a:t>
            </a:r>
          </a:p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в 27 странах 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161"/>
                </a:solidFill>
                <a:latin typeface="Roboto"/>
              </a:rPr>
              <a:t>▸  Каждый производитель (Datecs, Daisy, Tremol, Epson...) — свой бинарный протокол (USB/UART/RS-232)</a:t>
            </a:r>
          </a:p>
          <a:p>
            <a:pPr algn="l"/>
            <a:r>
              <a:rPr sz="1500" b="0">
                <a:solidFill>
                  <a:srgbClr val="616161"/>
                </a:solidFill>
                <a:latin typeface="Roboto"/>
              </a:rPr>
              <a:t>▸  Смена поставщика оборудования = полная переработка интеграционного слоя</a:t>
            </a:r>
          </a:p>
          <a:p>
            <a:pPr algn="l"/>
            <a:r>
              <a:rPr sz="1500" b="0">
                <a:solidFill>
                  <a:srgbClr val="616161"/>
                </a:solidFill>
                <a:latin typeface="Roboto"/>
              </a:rPr>
              <a:t>▸  Нет облачного контроля; нет стандартизированного offline-сценария</a:t>
            </a:r>
          </a:p>
          <a:p>
            <a:pPr algn="l"/>
            <a:r>
              <a:rPr sz="1500" b="0">
                <a:solidFill>
                  <a:srgbClr val="616161"/>
                </a:solidFill>
                <a:latin typeface="Roboto"/>
              </a:rPr>
              <a:t>▸  Компании в нескольких странах ЕС поддерживают N независимых интеграций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26280"/>
            <a:ext cx="11338560" cy="566928"/>
          </a:xfrm>
          <a:prstGeom prst="rect">
            <a:avLst/>
          </a:prstGeom>
          <a:solidFill>
            <a:srgbClr val="C5CAE9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83593"/>
                </a:solidFill>
                <a:latin typeface="Roboto"/>
              </a:rPr>
              <a:t>Итог: vendor lock-in + дорогой compliance + отсутствие real-time аудита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Решение: один API — все устройства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394960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82512" y="1115568"/>
            <a:ext cx="5394960" cy="3520440"/>
          </a:xfrm>
          <a:prstGeom prst="rect">
            <a:avLst/>
          </a:prstGeom>
          <a:solidFill>
            <a:srgbClr val="FFFFFF"/>
          </a:solidFill>
          <a:ln w="1524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5394960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115568"/>
            <a:ext cx="539496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❌  Сегодня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143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✅  С Beeloy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ERP/POS A  → Datecs driver v1.3 → ФУ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ERP/POS A  → Daisy driver v2.1   → ФУ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ERP/POS B  → Custom UART code  → ФУ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/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Каждое соединение — отдельный код,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отдельная сертификация, отдельная поддержка.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572768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ERP/POS A  ─┐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ERP/POS B  ─┤→ POST /public/v1/sales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ERP/POS C  ─┘     (единый REST API)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                         │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             ├── Datecs FP-700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             ├── Datecs BlueCash-50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             └── Daisy FX1200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00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Подключение нового POS/ERP — 1 день по документации. Смена ФУ — без изменений в коде клиента.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Архитектура: 4 уровня, единый идентификатор операции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11338560" cy="1078992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Roboto"/>
              </a:rPr>
              <a:t>POS / ERP / BeeMiniPOS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AE9"/>
                </a:solidFill>
                <a:latin typeface="Roboto"/>
              </a:rPr>
              <a:t>REST API  ·  Webhooks  ·  TypeScript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1762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Roboto"/>
              </a:rPr>
              <a:t>▲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304288"/>
            <a:ext cx="11338560" cy="1078992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Roboto"/>
              </a:rPr>
              <a:t>Fiscal Platform (Cloud)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07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AE9"/>
                </a:solidFill>
                <a:latin typeface="Roboto"/>
              </a:rPr>
              <a:t>Fiscal Core · MiniPOS Backend · PostgreSQL RLS · MQTT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364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Roboto"/>
              </a:rPr>
              <a:t>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93008"/>
            <a:ext cx="11338560" cy="10789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8444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Roboto"/>
              </a:rPr>
              <a:t>Edge Agent (Local)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96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AE9"/>
                </a:solidFill>
                <a:latin typeface="Roboto"/>
              </a:rPr>
              <a:t>SQLite WAL journal · BLE X25519/AES-256-GCM · OTA Ed25519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553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Roboto"/>
              </a:rPr>
              <a:t>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681728"/>
            <a:ext cx="11338560" cy="107899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73168"/>
            <a:ext cx="5943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Roboto"/>
              </a:rPr>
              <a:t>Smart Devices + IoT C++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CAE9"/>
                </a:solidFill>
                <a:latin typeface="Roboto"/>
              </a:rPr>
              <a:t>Datecs 73 cmd · Daisy 88 cmd · ESP32-S3 ECDSA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350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96B"/>
                </a:solidFill>
                <a:latin typeface="Roboto"/>
              </a:rPr>
              <a:t>Один client_operation_id — на всех транспортах (REST → BLE → Local HTTP). Операция выполняется ровно один раз.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Конкурентные преимущества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3657600" cy="292608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🔒  Единый UUID
через все транспорты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REST → BLE → Local HTTP без дублей транзакций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1430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43000"/>
            <a:ext cx="3657600" cy="292608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904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💾  Durable-before-device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SQLite WAL: команда записана в журнал до отправки на ФУ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1430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19" y="1143000"/>
            <a:ext cx="3657600" cy="292608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9047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🔗  Cryptographic
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Hash-chaining от ФУ до облака. Подделка математически обнаружима.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3657600" cy="292608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🌍  Country Policy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НДС-ставки и форматы из API — не зашиты в код клиента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4747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474720"/>
            <a:ext cx="3657600" cy="292608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822191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⚡  92 OpenAPI операции
с hash-lock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572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Стабильные контракты + генерируемые TypeScript SDK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47472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3474720"/>
            <a:ext cx="3657600" cy="292608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22191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📴  Offline-first 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572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Зашифрованная BLE сессия + SQLite журнал = продажи без интернета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Бизнес-модель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2743200" cy="256032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444752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Pay-per-use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084831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1 000 транз/мес на клиента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бесплатно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/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€ 0.01 / транзакция сверх лимита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11556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1115568"/>
            <a:ext cx="2743200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44752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Roboto"/>
              </a:rPr>
              <a:t>SaaS подписка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84831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€ 29 – 99 / касса / мес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/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Мониторинг · Audit · Export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Webhooks · Поддержка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8504" y="111556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115568"/>
            <a:ext cx="2743200" cy="25603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444752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C00"/>
                </a:solidFill>
                <a:latin typeface="Roboto"/>
              </a:rPr>
              <a:t>Professional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084831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€ 5K – 30K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интеграция под ключ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/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Custom country profiles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White-label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5" y="111556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72015" y="1115568"/>
            <a:ext cx="2743200" cy="25603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3" y="1444752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4242"/>
                </a:solidFill>
                <a:latin typeface="Roboto"/>
              </a:rPr>
              <a:t>Edge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3" y="2084831"/>
            <a:ext cx="2514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ESP32-S3 Edge Agent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€ 80 – 150 / ед.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/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+ € 5 / мес</a:t>
            </a:r>
          </a:p>
          <a:p>
            <a:pPr algn="l"/>
            <a:r>
              <a:rPr sz="1200" b="0">
                <a:solidFill>
                  <a:srgbClr val="616161"/>
                </a:solidFill>
                <a:latin typeface="Roboto"/>
              </a:rPr>
              <a:t>OTA · мониторинг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63440"/>
            <a:ext cx="11338560" cy="1691640"/>
          </a:xfrm>
          <a:prstGeom prst="rect">
            <a:avLst/>
          </a:prstGeom>
          <a:solidFill>
            <a:srgbClr val="C5CAE9"/>
          </a:solidFill>
          <a:ln w="1016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36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3593"/>
                </a:solidFill>
                <a:latin typeface="Roboto"/>
              </a:rPr>
              <a:t>Unit Economics — retail-сеть 100 касс, 20 000 транз/день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Roboto"/>
              </a:rPr>
              <a:t>Free tier: 1 000 транз/мес на клиента (не на кассу)</a:t>
            </a:r>
          </a:p>
          <a:p>
            <a:pPr algn="l"/>
            <a:r>
              <a:rPr sz="1300" b="0">
                <a:solidFill>
                  <a:srgbClr val="212121"/>
                </a:solidFill>
                <a:latin typeface="Roboto"/>
              </a:rPr>
              <a:t>Платные: (20 000 × 30) − 1 000 = 599 000 транз/мес   ·   Выручка: € 5 990/мес   ·   ARR: ≈ € 72K   ·   Gross margin: ~70%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Рынок ЕС: € 3.6 млрд TAM, регуляторный попутный ветер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25295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03F9F"/>
                </a:solidFill>
                <a:latin typeface="Roboto"/>
              </a:rPr>
              <a:t>€ 3.6 млрд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TAM / год</a:t>
            </a:r>
          </a:p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6M предприятий × ARPU €600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1115568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9976" y="1225295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688"/>
                </a:solidFill>
                <a:latin typeface="Roboto"/>
              </a:rPr>
              <a:t>€ 1.1 млрд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013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SAM / год</a:t>
            </a:r>
          </a:p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8 стран обязательной фискализации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5592" y="1115568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225295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Roboto"/>
              </a:rPr>
              <a:t>€ 21.6M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80136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SOM через 3 года</a:t>
            </a:r>
          </a:p>
          <a:p>
            <a:pPr algn="ctr"/>
            <a:r>
              <a:rPr sz="1100" b="0">
                <a:solidFill>
                  <a:srgbClr val="757575"/>
                </a:solidFill>
                <a:latin typeface="Roboto"/>
              </a:rPr>
              <a:t>2% рынка 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3F9F"/>
                </a:solidFill>
                <a:latin typeface="Roboto"/>
              </a:rPr>
              <a:t>Ключевые рынки и регуляторные катализаторы: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15468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🇧🇬 Болгария — SUPTO 2024 · вступление в еврозону 2026 → обязательная замена фискальных систем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🇵🇱 Польша — KSeF 2025 (B2B) · 40M населения · крупнейший рынок CEE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🇮🇹 Италия — 5M фискальных устройств · Corrispettivi telematici с 2020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🇷🇴 Румыния — e-Factura 2024 · быстро растущий рынок</a:t>
            </a:r>
          </a:p>
          <a:p>
            <a:pPr algn="l"/>
            <a:r>
              <a:rPr sz="1300" b="0">
                <a:solidFill>
                  <a:srgbClr val="616161"/>
                </a:solidFill>
                <a:latin typeface="Roboto"/>
              </a:rPr>
              <a:t>🇸🇮 Словения / 🇭🇷 Хорватия — EUR с 2023 · API-first FURS / Fiskalizacija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32120"/>
            <a:ext cx="11338560" cy="5029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96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96B"/>
                </a:solidFill>
                <a:latin typeface="Roboto"/>
              </a:rPr>
              <a:t>Каждые 2–3 года новая страна ЕС вводит обязательную электронную фискализацию — новый рынок для Beeloy.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BeeMiniPOS — собственный POS (reference client)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1556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16161"/>
                </a:solidFill>
                <a:latin typeface="Roboto"/>
              </a:rPr>
              <a:t>Демонстрирует весь стек платформы. Готов к коммерческому использованию как самостоятельный продукт.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002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3657600" cy="3200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Roboto"/>
              </a:rPr>
              <a:t>Web (React / Vite)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CASH / CARD / Split tender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Скидки, сторно, X/Z-отчёты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Offline outbox → auto-sync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Webhooks → fiscal_reference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3657600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64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Roboto"/>
              </a:rPr>
              <a:t>Mobile (Expo iOS / Android)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29968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Единая кодовая база: 3 платформы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BLE offline-продажи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Scan штрих-кода (camera/scanner)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UNKNOWN reconciliation panel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1600200"/>
            <a:ext cx="3657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1600200"/>
            <a:ext cx="3657600" cy="32004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Roboto"/>
              </a:rPr>
              <a:t>Admin App (BeeFiscalApp)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29968"/>
            <a:ext cx="3383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Provisioning устройств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Audit journal (AUDITOR role)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X / Z / KLEN отчёты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616161"/>
                </a:solidFill>
                <a:latin typeface="Roboto"/>
              </a:rPr>
              <a:t>▸  BLE session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577840"/>
            <a:ext cx="11338560" cy="50292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601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3593"/>
                </a:solidFill>
                <a:latin typeface="Roboto"/>
              </a:rPr>
              <a:t>110 Playwright E2E тестов  ·  85 per-app  ·  25 cross-app pos2fiscal  ·  Software: 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"/>
              </a:rPr>
              <a:t>Статус разработки и дорожная карта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5212080" cy="640080"/>
          </a:xfrm>
          <a:prstGeom prst="rect">
            <a:avLst/>
          </a:prstGeom>
          <a:solidFill>
            <a:srgbClr val="43A047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9786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Roboto"/>
              </a:rPr>
              <a:t>✅  SOFTWARE_COMPLETE_HIL_PENDING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7451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  <a:latin typeface="Roboto"/>
              </a:rPr>
              <a:t>Весь программный функционал реализован и прошёл автоматизированную регрессию.
Оставшиеся gates — аппаратные и внешние (не software).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24912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92 OpenAPI операции, request/response enforcement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PostgreSQL RLS, idempotency cross-replica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BLE X25519/AES-256-GCM, OTA Ed25519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SQLite 72h soak: 0 потерь, 0 дублей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110 E2E тестов Playwright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SUPTO BG-014 Annex 29 (software gates)</a:t>
            </a:r>
          </a:p>
          <a:p>
            <a:pPr algn="l"/>
            <a:r>
              <a:rPr sz="1200" b="0">
                <a:solidFill>
                  <a:srgbClr val="2E7D32"/>
                </a:solidFill>
                <a:latin typeface="Roboto"/>
              </a:rPr>
              <a:t>✓  EUR policy, UNP алгоритм BG_UNP_V1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15568"/>
            <a:ext cx="1444752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115568"/>
            <a:ext cx="1444752" cy="256032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41732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3F9F"/>
                </a:solidFill>
                <a:latin typeface="Roboto"/>
              </a:rPr>
              <a:t>Q4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1847088"/>
            <a:ext cx="1298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Roboto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2423160"/>
            <a:ext cx="12984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HIL на реальных ФУ</a:t>
            </a:r>
          </a:p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НАП/BIM подпись</a:t>
            </a:r>
          </a:p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3–5 PILOT-клиентов BG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25512" y="1115568"/>
            <a:ext cx="1444752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25512" y="1115568"/>
            <a:ext cx="1444752" cy="2560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8664" y="141732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Roboto"/>
              </a:rPr>
              <a:t>Q1–Q2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1847088"/>
            <a:ext cx="1298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Roboto"/>
              </a:rPr>
              <a:t>Коммерческий BG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664" y="2423160"/>
            <a:ext cx="12984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SaaS billing</a:t>
            </a:r>
          </a:p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Partner portal</a:t>
            </a:r>
          </a:p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50+ локаций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115568"/>
            <a:ext cx="1444752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115568"/>
            <a:ext cx="1444752" cy="25603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41732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  <a:latin typeface="Roboto"/>
              </a:rPr>
              <a:t>Q3–Q4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1847088"/>
            <a:ext cx="1298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Roboto"/>
              </a:rPr>
              <a:t>Экспансия 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423160"/>
            <a:ext cx="12984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PL / SI / RO</a:t>
            </a:r>
          </a:p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500+ локаций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89336" y="1115568"/>
            <a:ext cx="1444752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89336" y="1115568"/>
            <a:ext cx="1444752" cy="256032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62488" y="141732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4242"/>
                </a:solidFill>
                <a:latin typeface="Roboto"/>
              </a:rPr>
              <a:t>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62488" y="1847088"/>
            <a:ext cx="12984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Roboto"/>
              </a:rPr>
              <a:t>Масштаб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2488" y="2423160"/>
            <a:ext cx="12984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IT / HU / Marketplace</a:t>
            </a:r>
          </a:p>
          <a:p>
            <a:pPr algn="l"/>
            <a:r>
              <a:rPr sz="1100" b="0">
                <a:solidFill>
                  <a:srgbClr val="616161"/>
                </a:solidFill>
                <a:latin typeface="Roboto"/>
              </a:rPr>
              <a:t>5K+ локаций · Series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Roboto"/>
              </a:rPr>
              <a:t>Готовы к диалогу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2DFDB"/>
                </a:solidFill>
                <a:latin typeface="Roboto"/>
              </a:rPr>
              <a:t>Ищем пилотных партнёров, дистрибьюторов и инвесторов в ЕС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87168"/>
            <a:ext cx="112471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7480"/>
            <a:ext cx="3383280" cy="24231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97480"/>
            <a:ext cx="338328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Roboto"/>
              </a:rPr>
              <a:t>🤝  Пилотные клиенты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CAE9"/>
                </a:solidFill>
                <a:latin typeface="Roboto"/>
              </a:rPr>
              <a:t>Retail / HoReCa в Болгарии</a:t>
            </a:r>
          </a:p>
          <a:p>
            <a:pPr algn="l"/>
            <a:r>
              <a:rPr sz="1300" b="0">
                <a:solidFill>
                  <a:srgbClr val="C5CAE9"/>
                </a:solidFill>
                <a:latin typeface="Roboto"/>
              </a:rPr>
              <a:t>HIL тест на реальных устройствах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697480"/>
            <a:ext cx="3383280" cy="24231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697480"/>
            <a:ext cx="338328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Roboto"/>
              </a:rPr>
              <a:t>🌍  Дистрибьюторы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703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CAE9"/>
                </a:solidFill>
                <a:latin typeface="Roboto"/>
              </a:rPr>
              <a:t>Национальные партнёры в PL / IT / RO / SI</a:t>
            </a:r>
          </a:p>
          <a:p>
            <a:pPr algn="l"/>
            <a:r>
              <a:rPr sz="1300" b="0">
                <a:solidFill>
                  <a:srgbClr val="C5CAE9"/>
                </a:solidFill>
                <a:latin typeface="Roboto"/>
              </a:rPr>
              <a:t>White-label платформы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2697480"/>
            <a:ext cx="3383280" cy="24231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2697480"/>
            <a:ext cx="338328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3063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Roboto"/>
              </a:rPr>
              <a:t>💰  Инвесторы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703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CAE9"/>
                </a:solidFill>
                <a:latin typeface="Roboto"/>
              </a:rPr>
              <a:t>Pre-seed / Seed раунд</a:t>
            </a:r>
          </a:p>
          <a:p>
            <a:pPr algn="l"/>
            <a:r>
              <a:rPr sz="1300" b="0">
                <a:solidFill>
                  <a:srgbClr val="C5CAE9"/>
                </a:solidFill>
                <a:latin typeface="Roboto"/>
              </a:rPr>
              <a:t>Масштабирование на рынки 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9688"/>
                </a:solidFill>
                <a:latin typeface="Roboto"/>
              </a:rPr>
              <a:t>beeloy.org@gmail.com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64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DFDB"/>
                </a:solidFill>
                <a:latin typeface="Roboto"/>
              </a:rPr>
              <a:t>Beeloy Fiscal Platform  ·  API v2026-08-07  ·  BG_MVP_FUNCTIONAL_NONPROD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